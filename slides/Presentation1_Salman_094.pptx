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6"/>
  </p:notesMasterIdLst>
  <p:sldIdLst>
    <p:sldId id="259" r:id="rId2"/>
    <p:sldId id="263" r:id="rId3"/>
    <p:sldId id="266" r:id="rId4"/>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60" d="100"/>
          <a:sy n="60" d="100"/>
        </p:scale>
        <p:origin x="7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58491-1724-45B3-8B64-4C127698E258}" type="datetimeFigureOut">
              <a:rPr lang="en-US" smtClean="0"/>
              <a:t>10/25/2026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87F47D-3B15-4078-99A6-D10DE1EF963F}" type="slidenum">
              <a:rPr lang="en-US" smtClean="0"/>
              <a:t>‹#›</a:t>
            </a:fld>
            <a:endParaRPr lang="en-US"/>
          </a:p>
        </p:txBody>
      </p:sp>
    </p:spTree>
    <p:extLst>
      <p:ext uri="{BB962C8B-B14F-4D97-AF65-F5344CB8AC3E}">
        <p14:creationId xmlns:p14="http://schemas.microsoft.com/office/powerpoint/2010/main" val="2716802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12E14-8817-6B63-6B65-3CF1DC071E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9F3B3C-A6D4-9768-3823-88AA8BE05F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1FE2E1-30DA-4D7C-AE7B-A73A8C452588}"/>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BAE2973E-9138-8133-7B56-C872DDCDBB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0528C-BD31-D655-D273-9B8A37387D10}"/>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3572608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319C-5A87-07B9-6EAA-2421F1C421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785631-6E71-408F-E1B2-A1A1BB726E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85FF4-04EF-CC2B-D7F4-28AEF0472BB0}"/>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51585A9C-EE2C-FD9B-7F26-DFDDA1EB71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0C6B1-3310-13C2-D7AF-833FABE15C6D}"/>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357920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67C8-F18E-DCC4-5581-08476C68F6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2A7A99-26FE-8095-1C30-F416A79329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310D38-660F-BFCF-8B09-27B257362A4D}"/>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E05AB595-A4E3-A77A-480A-1CDE0A3533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34031-79C6-3E28-B351-BFD613F4B298}"/>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2018225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F25A-F3A3-23AB-76E7-C5BEC4D6C7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2D7BE3-8CDB-7964-B7CB-1F87AE5AA0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55F2C7-1FB4-724E-BAD8-99AA8A991F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0CB4FB-32E6-1730-96DF-C94300AFAA93}"/>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6" name="Footer Placeholder 5">
            <a:extLst>
              <a:ext uri="{FF2B5EF4-FFF2-40B4-BE49-F238E27FC236}">
                <a16:creationId xmlns:a16="http://schemas.microsoft.com/office/drawing/2014/main" id="{D891F067-0A3E-4B97-13FA-D53F0C9F88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95B419-25AB-392B-3281-C405C6C6EB26}"/>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274549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2BFB-3E0B-5236-F128-FB14A2F8CF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30E900-C91C-F1AC-597A-7CA688069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37E984-5856-35C3-7DA1-9BEB8AED20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9E900E-F135-53E2-8242-360C2C8D99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5821D0-FCBF-5FE1-5359-5E7BFC415A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7AFDD8-9269-BA73-7860-77204059BFD4}"/>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8" name="Footer Placeholder 7">
            <a:extLst>
              <a:ext uri="{FF2B5EF4-FFF2-40B4-BE49-F238E27FC236}">
                <a16:creationId xmlns:a16="http://schemas.microsoft.com/office/drawing/2014/main" id="{EF46FE18-F143-991A-096D-748D102319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1735B8-C3DB-8346-AD23-16D2933DF55C}"/>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723561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E3032-F010-7258-3146-F707C89880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752B40-ECE8-370A-3EB2-A1D04948853F}"/>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4" name="Footer Placeholder 3">
            <a:extLst>
              <a:ext uri="{FF2B5EF4-FFF2-40B4-BE49-F238E27FC236}">
                <a16:creationId xmlns:a16="http://schemas.microsoft.com/office/drawing/2014/main" id="{6B5B0F3B-B5B0-CF04-3B71-8558F48153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97B6C2-E3B3-E472-0C21-8C269EF2765C}"/>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339493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30AD9-B2EC-4052-5CBF-FDD0AE3101F5}"/>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3" name="Footer Placeholder 2">
            <a:extLst>
              <a:ext uri="{FF2B5EF4-FFF2-40B4-BE49-F238E27FC236}">
                <a16:creationId xmlns:a16="http://schemas.microsoft.com/office/drawing/2014/main" id="{DB3FA1B0-3437-A3AC-9C2B-BB208E3976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BADD8-3AA0-9EDB-BA02-EB6BA74DE885}"/>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1000777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6408-C4FE-EE27-D3CD-F20EF0D197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B7ACA0-0D31-DF3E-0478-2D225FE30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99BF48-8E01-425D-FB35-7C8E8BC33C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0883B-5661-FC19-7B0F-4C8B4C1B62A2}"/>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6" name="Footer Placeholder 5">
            <a:extLst>
              <a:ext uri="{FF2B5EF4-FFF2-40B4-BE49-F238E27FC236}">
                <a16:creationId xmlns:a16="http://schemas.microsoft.com/office/drawing/2014/main" id="{4EEA249A-4482-6874-BD9A-F852EB5C69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30A8E-7A89-41C0-05A5-54938AB5CA5A}"/>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2605734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4CA71-1451-791C-7F51-5815697AC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7BCC82-A3C1-7DBE-2AE7-9AE0108235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82B746-A051-6585-1536-222A17C84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63873-8F1B-B3E6-4690-6A0326937C3D}"/>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6" name="Footer Placeholder 5">
            <a:extLst>
              <a:ext uri="{FF2B5EF4-FFF2-40B4-BE49-F238E27FC236}">
                <a16:creationId xmlns:a16="http://schemas.microsoft.com/office/drawing/2014/main" id="{9C2D8676-C64A-E054-67A9-64AA8ECE88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EFD2EB-6C15-773A-4C23-58F5B0214185}"/>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72067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5F6E-F766-DC7F-A175-9C1266D6CE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3C01D2-A62F-54BD-53AF-ABC4EF9BA5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0EF4A-A142-D5A5-C340-D8BFA4133603}"/>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CC6EB259-1EC5-B4AA-FE07-27BD5823F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31BDB6-CF90-1B04-24B4-94E033E298E0}"/>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387926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40B1A9-D4C9-C118-8471-227CDFDE4D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0A7921-532B-4CC5-8D32-549F39342C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AE644F-7F65-4D39-D522-FD0A7190F64E}"/>
              </a:ext>
            </a:extLst>
          </p:cNvPr>
          <p:cNvSpPr>
            <a:spLocks noGrp="1"/>
          </p:cNvSpPr>
          <p:nvPr>
            <p:ph type="dt" sz="half" idx="10"/>
          </p:nvPr>
        </p:nvSpPr>
        <p:spPr/>
        <p:txBody>
          <a:body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CE493CFE-173E-58CE-9507-21FAD79EF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130AD-85D2-08CE-D15D-75D916F081D8}"/>
              </a:ext>
            </a:extLst>
          </p:cNvPr>
          <p:cNvSpPr>
            <a:spLocks noGrp="1"/>
          </p:cNvSpPr>
          <p:nvPr>
            <p:ph type="sldNum" sz="quarter" idx="12"/>
          </p:nvPr>
        </p:nvSpPr>
        <p:spPr/>
        <p:txBody>
          <a:bodyPr/>
          <a:lstStyle/>
          <a:p>
            <a:fld id="{9C77FDAC-61E9-46D1-9684-B3D501C4E25A}" type="slidenum">
              <a:rPr lang="en-US" smtClean="0"/>
              <a:t>‹#›</a:t>
            </a:fld>
            <a:endParaRPr lang="en-US"/>
          </a:p>
        </p:txBody>
      </p:sp>
    </p:spTree>
    <p:extLst>
      <p:ext uri="{BB962C8B-B14F-4D97-AF65-F5344CB8AC3E}">
        <p14:creationId xmlns:p14="http://schemas.microsoft.com/office/powerpoint/2010/main" val="1095367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6BEAB1-04D8-3FEF-B6C6-D8F85123A4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785526-C430-F108-8AFD-E58B2FE94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54C489-7280-C42C-55E2-EEEB43F438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3CCE63-0588-457B-92D7-E1AB32359BD8}" type="datetimeFigureOut">
              <a:rPr lang="en-US" smtClean="0"/>
              <a:t>10/25/2026</a:t>
            </a:fld>
            <a:endParaRPr lang="en-US"/>
          </a:p>
        </p:txBody>
      </p:sp>
      <p:sp>
        <p:nvSpPr>
          <p:cNvPr id="5" name="Footer Placeholder 4">
            <a:extLst>
              <a:ext uri="{FF2B5EF4-FFF2-40B4-BE49-F238E27FC236}">
                <a16:creationId xmlns:a16="http://schemas.microsoft.com/office/drawing/2014/main" id="{17C669A8-EEAE-8922-88B7-C3B837D3AD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E6E6D11-BFF4-5BC4-D147-225520257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77FDAC-61E9-46D1-9684-B3D501C4E25A}" type="slidenum">
              <a:rPr lang="en-US" smtClean="0"/>
              <a:t>‹#›</a:t>
            </a:fld>
            <a:endParaRPr lang="en-US"/>
          </a:p>
        </p:txBody>
      </p:sp>
    </p:spTree>
    <p:extLst>
      <p:ext uri="{BB962C8B-B14F-4D97-AF65-F5344CB8AC3E}">
        <p14:creationId xmlns:p14="http://schemas.microsoft.com/office/powerpoint/2010/main" val="177698633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3C5C9-0215-B8FE-9EF0-600C6B5CC6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699603-8F14-65B4-DCBE-48B23E1E0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047" y="10"/>
            <a:ext cx="12191999" cy="6857990"/>
          </a:xfrm>
          <a:prstGeom prst="rect">
            <a:avLst/>
          </a:prstGeom>
        </p:spPr>
      </p:pic>
      <p:sp>
        <p:nvSpPr>
          <p:cNvPr id="19" name="TextBox 18">
            <a:extLst>
              <a:ext uri="{FF2B5EF4-FFF2-40B4-BE49-F238E27FC236}">
                <a16:creationId xmlns:a16="http://schemas.microsoft.com/office/drawing/2014/main" id="{0CE10DFC-4D48-D76D-4CC4-7368A33F9AD2}"/>
              </a:ext>
            </a:extLst>
          </p:cNvPr>
          <p:cNvSpPr txBox="1"/>
          <p:nvPr/>
        </p:nvSpPr>
        <p:spPr>
          <a:xfrm>
            <a:off x="704088" y="470923"/>
            <a:ext cx="7132320" cy="350865"/>
          </a:xfrm>
          <a:prstGeom prst="rect">
            <a:avLst/>
          </a:prstGeom>
          <a:noFill/>
        </p:spPr>
        <p:txBody>
          <a:bodyPr wrap="square" lIns="36576" tIns="36576" rIns="36576" bIns="36576" anchor="t">
            <a:spAutoFit/>
          </a:bodyPr>
          <a:lstStyle/>
          <a:p>
            <a:pPr algn="l">
              <a:spcAft>
                <a:spcPts val="400"/>
              </a:spcAft>
            </a:pPr>
            <a:r>
              <a:rPr b="1" i="0" dirty="0">
                <a:latin typeface="Aptos"/>
              </a:rPr>
              <a:t>ECO346 </a:t>
            </a:r>
            <a:r>
              <a:rPr sz="1200" b="1" i="0" dirty="0">
                <a:latin typeface="Aptos"/>
              </a:rPr>
              <a:t> </a:t>
            </a:r>
            <a:r>
              <a:rPr b="1" i="0" dirty="0">
                <a:latin typeface="Aptos"/>
              </a:rPr>
              <a:t>•  ASSIGNMENT </a:t>
            </a:r>
            <a:endParaRPr sz="1200" b="1" i="0" dirty="0">
              <a:latin typeface="Aptos"/>
            </a:endParaRPr>
          </a:p>
        </p:txBody>
      </p:sp>
      <p:sp>
        <p:nvSpPr>
          <p:cNvPr id="20" name="TextBox 19">
            <a:extLst>
              <a:ext uri="{FF2B5EF4-FFF2-40B4-BE49-F238E27FC236}">
                <a16:creationId xmlns:a16="http://schemas.microsoft.com/office/drawing/2014/main" id="{1A3F47D6-C09A-D98F-1879-F3571806E345}"/>
              </a:ext>
            </a:extLst>
          </p:cNvPr>
          <p:cNvSpPr txBox="1"/>
          <p:nvPr/>
        </p:nvSpPr>
        <p:spPr>
          <a:xfrm>
            <a:off x="3401568" y="1514918"/>
            <a:ext cx="7498079" cy="1602490"/>
          </a:xfrm>
          <a:prstGeom prst="rect">
            <a:avLst/>
          </a:prstGeom>
          <a:noFill/>
        </p:spPr>
        <p:txBody>
          <a:bodyPr wrap="square" lIns="36576" tIns="36576" rIns="36576" bIns="36576" anchor="t">
            <a:spAutoFit/>
          </a:bodyPr>
          <a:lstStyle/>
          <a:p>
            <a:pPr algn="l">
              <a:spcAft>
                <a:spcPts val="400"/>
              </a:spcAft>
            </a:pPr>
            <a:r>
              <a:rPr sz="4800" b="1" i="0" dirty="0">
                <a:latin typeface="Aptos"/>
              </a:rPr>
              <a:t>Making Data</a:t>
            </a:r>
          </a:p>
          <a:p>
            <a:pPr algn="l">
              <a:spcAft>
                <a:spcPts val="400"/>
              </a:spcAft>
            </a:pPr>
            <a:r>
              <a:rPr sz="4800" b="1" i="0" dirty="0">
                <a:latin typeface="Aptos"/>
              </a:rPr>
              <a:t>Tell a Clearer Story</a:t>
            </a:r>
          </a:p>
        </p:txBody>
      </p:sp>
      <p:sp>
        <p:nvSpPr>
          <p:cNvPr id="21" name="TextBox 20">
            <a:extLst>
              <a:ext uri="{FF2B5EF4-FFF2-40B4-BE49-F238E27FC236}">
                <a16:creationId xmlns:a16="http://schemas.microsoft.com/office/drawing/2014/main" id="{F8C4F653-5844-5DAF-495D-3318BCC2616A}"/>
              </a:ext>
            </a:extLst>
          </p:cNvPr>
          <p:cNvSpPr txBox="1"/>
          <p:nvPr/>
        </p:nvSpPr>
        <p:spPr>
          <a:xfrm>
            <a:off x="700189" y="745924"/>
            <a:ext cx="6949440" cy="335476"/>
          </a:xfrm>
          <a:prstGeom prst="rect">
            <a:avLst/>
          </a:prstGeom>
          <a:noFill/>
        </p:spPr>
        <p:txBody>
          <a:bodyPr wrap="square" lIns="36576" tIns="36576" rIns="36576" bIns="36576" anchor="t">
            <a:spAutoFit/>
          </a:bodyPr>
          <a:lstStyle/>
          <a:p>
            <a:pPr algn="l">
              <a:spcAft>
                <a:spcPts val="400"/>
              </a:spcAft>
            </a:pPr>
            <a:r>
              <a:rPr sz="1700" b="0" i="0" dirty="0">
                <a:latin typeface="Aptos"/>
              </a:rPr>
              <a:t>Data Visualization Techniques for Economists</a:t>
            </a:r>
          </a:p>
        </p:txBody>
      </p:sp>
      <p:sp>
        <p:nvSpPr>
          <p:cNvPr id="22" name="TextBox 21">
            <a:extLst>
              <a:ext uri="{FF2B5EF4-FFF2-40B4-BE49-F238E27FC236}">
                <a16:creationId xmlns:a16="http://schemas.microsoft.com/office/drawing/2014/main" id="{E42E8FBB-4FE3-F874-5E49-F7BDC3A46030}"/>
              </a:ext>
            </a:extLst>
          </p:cNvPr>
          <p:cNvSpPr txBox="1"/>
          <p:nvPr/>
        </p:nvSpPr>
        <p:spPr>
          <a:xfrm>
            <a:off x="700189" y="3458619"/>
            <a:ext cx="4389120" cy="504754"/>
          </a:xfrm>
          <a:prstGeom prst="rect">
            <a:avLst/>
          </a:prstGeom>
          <a:noFill/>
        </p:spPr>
        <p:txBody>
          <a:bodyPr wrap="square" lIns="36576" tIns="36576" rIns="36576" bIns="36576" anchor="t">
            <a:spAutoFit/>
          </a:bodyPr>
          <a:lstStyle/>
          <a:p>
            <a:pPr algn="l">
              <a:spcAft>
                <a:spcPts val="400"/>
              </a:spcAft>
            </a:pPr>
            <a:r>
              <a:rPr lang="en-GB" sz="2800" b="1" i="0" dirty="0">
                <a:latin typeface="Aptos"/>
              </a:rPr>
              <a:t>Name: </a:t>
            </a:r>
            <a:r>
              <a:rPr sz="2800" b="1" i="0" dirty="0">
                <a:latin typeface="Aptos"/>
              </a:rPr>
              <a:t>Salman Ali</a:t>
            </a:r>
          </a:p>
        </p:txBody>
      </p:sp>
      <p:sp>
        <p:nvSpPr>
          <p:cNvPr id="23" name="TextBox 22">
            <a:extLst>
              <a:ext uri="{FF2B5EF4-FFF2-40B4-BE49-F238E27FC236}">
                <a16:creationId xmlns:a16="http://schemas.microsoft.com/office/drawing/2014/main" id="{2B3A13AE-722D-D687-933B-225C1B5F95C1}"/>
              </a:ext>
            </a:extLst>
          </p:cNvPr>
          <p:cNvSpPr txBox="1"/>
          <p:nvPr/>
        </p:nvSpPr>
        <p:spPr>
          <a:xfrm>
            <a:off x="700189" y="3970006"/>
            <a:ext cx="5303520" cy="504754"/>
          </a:xfrm>
          <a:prstGeom prst="rect">
            <a:avLst/>
          </a:prstGeom>
          <a:noFill/>
        </p:spPr>
        <p:txBody>
          <a:bodyPr wrap="square" lIns="36576" tIns="36576" rIns="36576" bIns="36576" anchor="t">
            <a:spAutoFit/>
          </a:bodyPr>
          <a:lstStyle/>
          <a:p>
            <a:pPr algn="l">
              <a:spcAft>
                <a:spcPts val="400"/>
              </a:spcAft>
            </a:pPr>
            <a:r>
              <a:rPr sz="2800" b="1" i="0" dirty="0">
                <a:latin typeface="Aptos"/>
              </a:rPr>
              <a:t>Registration No</a:t>
            </a:r>
            <a:r>
              <a:rPr lang="en-GB" sz="2800" b="1" i="0" dirty="0">
                <a:latin typeface="Aptos"/>
              </a:rPr>
              <a:t>:</a:t>
            </a:r>
            <a:r>
              <a:rPr sz="2800" b="1" i="0" dirty="0">
                <a:latin typeface="Aptos"/>
              </a:rPr>
              <a:t>  FA24-BED-094</a:t>
            </a:r>
          </a:p>
        </p:txBody>
      </p:sp>
      <p:sp>
        <p:nvSpPr>
          <p:cNvPr id="24" name="TextBox 23">
            <a:extLst>
              <a:ext uri="{FF2B5EF4-FFF2-40B4-BE49-F238E27FC236}">
                <a16:creationId xmlns:a16="http://schemas.microsoft.com/office/drawing/2014/main" id="{0BB78199-D54B-53E2-A66C-64DBD19E2E08}"/>
              </a:ext>
            </a:extLst>
          </p:cNvPr>
          <p:cNvSpPr txBox="1"/>
          <p:nvPr/>
        </p:nvSpPr>
        <p:spPr>
          <a:xfrm>
            <a:off x="3093224" y="4997215"/>
            <a:ext cx="7167195" cy="627864"/>
          </a:xfrm>
          <a:prstGeom prst="rect">
            <a:avLst/>
          </a:prstGeom>
          <a:noFill/>
        </p:spPr>
        <p:txBody>
          <a:bodyPr wrap="square" lIns="36576" tIns="36576" rIns="36576" bIns="36576" anchor="t">
            <a:spAutoFit/>
          </a:bodyPr>
          <a:lstStyle/>
          <a:p>
            <a:pPr algn="l">
              <a:spcAft>
                <a:spcPts val="400"/>
              </a:spcAft>
            </a:pPr>
            <a:r>
              <a:rPr sz="3600" b="1" i="0" dirty="0">
                <a:latin typeface="Aptos"/>
              </a:rPr>
              <a:t>Variant 6  |  Rural Balochistan</a:t>
            </a:r>
          </a:p>
        </p:txBody>
      </p:sp>
      <p:pic>
        <p:nvPicPr>
          <p:cNvPr id="25" name="Picture 24">
            <a:extLst>
              <a:ext uri="{FF2B5EF4-FFF2-40B4-BE49-F238E27FC236}">
                <a16:creationId xmlns:a16="http://schemas.microsoft.com/office/drawing/2014/main" id="{268A0225-2FAB-56CA-84AD-AEA97C3A99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9797" y="2078370"/>
            <a:ext cx="2436405" cy="2863185"/>
          </a:xfrm>
          <a:prstGeom prst="rect">
            <a:avLst/>
          </a:prstGeom>
        </p:spPr>
      </p:pic>
    </p:spTree>
    <p:extLst>
      <p:ext uri="{BB962C8B-B14F-4D97-AF65-F5344CB8AC3E}">
        <p14:creationId xmlns:p14="http://schemas.microsoft.com/office/powerpoint/2010/main" val="348711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D4130-405D-729B-76DD-08AB9CAB3A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4F4DF3-D563-2318-6BAA-B58A46BA03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4" name="TextBox 3">
            <a:extLst>
              <a:ext uri="{FF2B5EF4-FFF2-40B4-BE49-F238E27FC236}">
                <a16:creationId xmlns:a16="http://schemas.microsoft.com/office/drawing/2014/main" id="{5B2D568C-C57C-D1EB-5669-4596CC4599AD}"/>
              </a:ext>
            </a:extLst>
          </p:cNvPr>
          <p:cNvSpPr txBox="1"/>
          <p:nvPr/>
        </p:nvSpPr>
        <p:spPr>
          <a:xfrm>
            <a:off x="-95573" y="4156554"/>
            <a:ext cx="5520509" cy="2462213"/>
          </a:xfrm>
          <a:prstGeom prst="rect">
            <a:avLst/>
          </a:prstGeom>
          <a:noFill/>
        </p:spPr>
        <p:txBody>
          <a:bodyPr wrap="square" rtlCol="0">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Annual education spending is unevenly distributed among the observed students. The weighted 90th percentile is Rs 18,700, which is 5.34 times the weighted median of Rs 3,500. This indicates that spending is substantially higher toward the upper end of the distribution</a:t>
            </a:r>
          </a:p>
        </p:txBody>
      </p:sp>
      <p:pic>
        <p:nvPicPr>
          <p:cNvPr id="6" name="Picture 5">
            <a:extLst>
              <a:ext uri="{FF2B5EF4-FFF2-40B4-BE49-F238E27FC236}">
                <a16:creationId xmlns:a16="http://schemas.microsoft.com/office/drawing/2014/main" id="{6E7CBDA3-EA0C-7D94-E7A8-5E6ED28B8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39233"/>
            <a:ext cx="5424939" cy="3902149"/>
          </a:xfrm>
          <a:prstGeom prst="rect">
            <a:avLst/>
          </a:prstGeom>
        </p:spPr>
      </p:pic>
      <p:pic>
        <p:nvPicPr>
          <p:cNvPr id="7" name="Picture 6">
            <a:extLst>
              <a:ext uri="{FF2B5EF4-FFF2-40B4-BE49-F238E27FC236}">
                <a16:creationId xmlns:a16="http://schemas.microsoft.com/office/drawing/2014/main" id="{E6653C5B-F874-B278-87C1-CF1AD6F50377}"/>
              </a:ext>
            </a:extLst>
          </p:cNvPr>
          <p:cNvPicPr>
            <a:picLocks noChangeAspect="1"/>
          </p:cNvPicPr>
          <p:nvPr/>
        </p:nvPicPr>
        <p:blipFill>
          <a:blip r:embed="rId4"/>
          <a:stretch>
            <a:fillRect/>
          </a:stretch>
        </p:blipFill>
        <p:spPr>
          <a:xfrm>
            <a:off x="6096000" y="254405"/>
            <a:ext cx="6095998" cy="3902149"/>
          </a:xfrm>
          <a:prstGeom prst="rect">
            <a:avLst/>
          </a:prstGeom>
        </p:spPr>
      </p:pic>
      <p:sp>
        <p:nvSpPr>
          <p:cNvPr id="10" name="TextBox 9">
            <a:extLst>
              <a:ext uri="{FF2B5EF4-FFF2-40B4-BE49-F238E27FC236}">
                <a16:creationId xmlns:a16="http://schemas.microsoft.com/office/drawing/2014/main" id="{312F1177-28C5-4919-02B4-0CD4A8A65D2A}"/>
              </a:ext>
            </a:extLst>
          </p:cNvPr>
          <p:cNvSpPr txBox="1"/>
          <p:nvPr/>
        </p:nvSpPr>
        <p:spPr>
          <a:xfrm>
            <a:off x="5930755" y="4141382"/>
            <a:ext cx="6176183" cy="2462213"/>
          </a:xfrm>
          <a:prstGeom prst="rect">
            <a:avLst/>
          </a:prstGeom>
          <a:noFill/>
        </p:spPr>
        <p:txBody>
          <a:bodyPr wrap="square" rtlCol="0">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Weighted literacy rates are higher for men than women in every age band shown. Among those aged 15–19, the rates are 63.8% for men and 33.3% for women. The largest difference is 47.9 percentage points among people aged 40–44, highlighting a substantial gender gap in the selected rural Balochistan sample</a:t>
            </a:r>
          </a:p>
        </p:txBody>
      </p:sp>
      <p:sp>
        <p:nvSpPr>
          <p:cNvPr id="11" name="TextBox 10">
            <a:extLst>
              <a:ext uri="{FF2B5EF4-FFF2-40B4-BE49-F238E27FC236}">
                <a16:creationId xmlns:a16="http://schemas.microsoft.com/office/drawing/2014/main" id="{A6B6EB1E-E7D5-447D-1ED0-AEFC4DB86BAA}"/>
              </a:ext>
            </a:extLst>
          </p:cNvPr>
          <p:cNvSpPr txBox="1"/>
          <p:nvPr/>
        </p:nvSpPr>
        <p:spPr>
          <a:xfrm>
            <a:off x="-95573" y="-110700"/>
            <a:ext cx="5424939" cy="430887"/>
          </a:xfrm>
          <a:prstGeom prst="rect">
            <a:avLst/>
          </a:prstGeom>
          <a:noFill/>
        </p:spPr>
        <p:txBody>
          <a:bodyPr wrap="square" rtlCol="0">
            <a:spAutoFit/>
          </a:bodyPr>
          <a:lstStyle/>
          <a:p>
            <a:r>
              <a:rPr lang="en-US" sz="2200" b="1" u="sng" dirty="0"/>
              <a:t>Education Spending Distribution</a:t>
            </a:r>
          </a:p>
        </p:txBody>
      </p:sp>
      <p:sp>
        <p:nvSpPr>
          <p:cNvPr id="12" name="TextBox 11">
            <a:extLst>
              <a:ext uri="{FF2B5EF4-FFF2-40B4-BE49-F238E27FC236}">
                <a16:creationId xmlns:a16="http://schemas.microsoft.com/office/drawing/2014/main" id="{059661F7-2E63-D3DA-FD0C-03E1312249DA}"/>
              </a:ext>
            </a:extLst>
          </p:cNvPr>
          <p:cNvSpPr txBox="1"/>
          <p:nvPr/>
        </p:nvSpPr>
        <p:spPr>
          <a:xfrm>
            <a:off x="6015816" y="-110701"/>
            <a:ext cx="5839226" cy="430887"/>
          </a:xfrm>
          <a:prstGeom prst="rect">
            <a:avLst/>
          </a:prstGeom>
          <a:noFill/>
        </p:spPr>
        <p:txBody>
          <a:bodyPr wrap="square" rtlCol="0">
            <a:spAutoFit/>
          </a:bodyPr>
          <a:lstStyle/>
          <a:p>
            <a:r>
              <a:rPr lang="en-US" sz="2200" b="1" u="sng" dirty="0"/>
              <a:t>Literacy Rates by Age and Gender</a:t>
            </a:r>
          </a:p>
        </p:txBody>
      </p:sp>
    </p:spTree>
    <p:extLst>
      <p:ext uri="{BB962C8B-B14F-4D97-AF65-F5344CB8AC3E}">
        <p14:creationId xmlns:p14="http://schemas.microsoft.com/office/powerpoint/2010/main" val="1043107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07CE8-AFE9-E5A3-5575-FDBCDB03C1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CF6E54-ED72-EBD2-02EF-EFC4D81EF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pic>
        <p:nvPicPr>
          <p:cNvPr id="3" name="Picture 2">
            <a:extLst>
              <a:ext uri="{FF2B5EF4-FFF2-40B4-BE49-F238E27FC236}">
                <a16:creationId xmlns:a16="http://schemas.microsoft.com/office/drawing/2014/main" id="{482B66B9-03F9-B05F-F8A4-2B584EB546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399151" cy="3821074"/>
          </a:xfrm>
          <a:prstGeom prst="rect">
            <a:avLst/>
          </a:prstGeom>
        </p:spPr>
      </p:pic>
      <p:pic>
        <p:nvPicPr>
          <p:cNvPr id="6" name="Picture 5">
            <a:extLst>
              <a:ext uri="{FF2B5EF4-FFF2-40B4-BE49-F238E27FC236}">
                <a16:creationId xmlns:a16="http://schemas.microsoft.com/office/drawing/2014/main" id="{3971B148-827D-FA08-FFE9-F65094DB64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312" y="0"/>
            <a:ext cx="5950687" cy="3821075"/>
          </a:xfrm>
          <a:prstGeom prst="rect">
            <a:avLst/>
          </a:prstGeom>
        </p:spPr>
      </p:pic>
      <p:sp>
        <p:nvSpPr>
          <p:cNvPr id="7" name="TextBox 6">
            <a:extLst>
              <a:ext uri="{FF2B5EF4-FFF2-40B4-BE49-F238E27FC236}">
                <a16:creationId xmlns:a16="http://schemas.microsoft.com/office/drawing/2014/main" id="{2A71990A-D77A-7E5C-C97F-AD6089EB8725}"/>
              </a:ext>
            </a:extLst>
          </p:cNvPr>
          <p:cNvSpPr txBox="1"/>
          <p:nvPr/>
        </p:nvSpPr>
        <p:spPr>
          <a:xfrm>
            <a:off x="0" y="3821075"/>
            <a:ext cx="5399150" cy="1384995"/>
          </a:xfrm>
          <a:prstGeom prst="rect">
            <a:avLst/>
          </a:prstGeom>
          <a:noFill/>
        </p:spPr>
        <p:txBody>
          <a:bodyPr wrap="square" rtlCol="0">
            <a:spAutoFit/>
          </a:bodyPr>
          <a:lstStyle/>
          <a:p>
            <a:r>
              <a:rPr lang="en-US" sz="2100" b="1" u="sng" dirty="0">
                <a:latin typeface="Times New Roman" panose="02020603050405020304" pitchFamily="18" charset="0"/>
                <a:cs typeface="Times New Roman" panose="02020603050405020304" pitchFamily="18" charset="0"/>
              </a:rPr>
              <a:t>Default Plot</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default plot displays individual literacy observations across ages, but overlapping points make overall patterns and gender differences difficult to interpret</a:t>
            </a:r>
          </a:p>
        </p:txBody>
      </p:sp>
      <p:sp>
        <p:nvSpPr>
          <p:cNvPr id="8" name="TextBox 7">
            <a:extLst>
              <a:ext uri="{FF2B5EF4-FFF2-40B4-BE49-F238E27FC236}">
                <a16:creationId xmlns:a16="http://schemas.microsoft.com/office/drawing/2014/main" id="{21C89710-C29F-538E-2A18-F2FE354A1A71}"/>
              </a:ext>
            </a:extLst>
          </p:cNvPr>
          <p:cNvSpPr txBox="1"/>
          <p:nvPr/>
        </p:nvSpPr>
        <p:spPr>
          <a:xfrm>
            <a:off x="6241312" y="3821075"/>
            <a:ext cx="5950687" cy="1384995"/>
          </a:xfrm>
          <a:prstGeom prst="rect">
            <a:avLst/>
          </a:prstGeom>
          <a:noFill/>
        </p:spPr>
        <p:txBody>
          <a:bodyPr wrap="square" rtlCol="0">
            <a:spAutoFit/>
          </a:bodyPr>
          <a:lstStyle/>
          <a:p>
            <a:r>
              <a:rPr lang="en-US" sz="2100" b="1" u="sng" dirty="0">
                <a:latin typeface="Times New Roman" panose="02020603050405020304" pitchFamily="18" charset="0"/>
                <a:cs typeface="Times New Roman" panose="02020603050405020304" pitchFamily="18" charset="0"/>
              </a:rPr>
              <a:t>Redesigned Plot</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redesigned plot presents weighted literacy rates across five-year age groups, clearly highlighting differences between men and women and variations in literacy across age groups</a:t>
            </a:r>
          </a:p>
        </p:txBody>
      </p:sp>
      <p:sp>
        <p:nvSpPr>
          <p:cNvPr id="9" name="TextBox 8">
            <a:extLst>
              <a:ext uri="{FF2B5EF4-FFF2-40B4-BE49-F238E27FC236}">
                <a16:creationId xmlns:a16="http://schemas.microsoft.com/office/drawing/2014/main" id="{80529C90-1339-D12C-1787-D3731432AEBB}"/>
              </a:ext>
            </a:extLst>
          </p:cNvPr>
          <p:cNvSpPr txBox="1"/>
          <p:nvPr/>
        </p:nvSpPr>
        <p:spPr>
          <a:xfrm>
            <a:off x="-1" y="5501120"/>
            <a:ext cx="12078587" cy="1169551"/>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Key Improvement</a:t>
            </a:r>
            <a:r>
              <a:rPr lang="en-US" sz="28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redesigned graph makes literacy trends and gender differences easier to identify by presenting weighted literacy rates across age groups. However, it hides individual observations, focusing instead on clear comparisons between men and women.</a:t>
            </a:r>
          </a:p>
        </p:txBody>
      </p:sp>
    </p:spTree>
    <p:extLst>
      <p:ext uri="{BB962C8B-B14F-4D97-AF65-F5344CB8AC3E}">
        <p14:creationId xmlns:p14="http://schemas.microsoft.com/office/powerpoint/2010/main" val="136622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6638-076C-2BE1-F204-9674F46D8D1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FB748-97B6-4245-B2AF-794E6C0B2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 name="TextBox 1">
            <a:extLst>
              <a:ext uri="{FF2B5EF4-FFF2-40B4-BE49-F238E27FC236}">
                <a16:creationId xmlns:a16="http://schemas.microsoft.com/office/drawing/2014/main" id="{2FBC32A8-AE35-E4E3-B235-D017A1A8C1AC}"/>
              </a:ext>
            </a:extLst>
          </p:cNvPr>
          <p:cNvSpPr txBox="1"/>
          <p:nvPr/>
        </p:nvSpPr>
        <p:spPr>
          <a:xfrm>
            <a:off x="95693" y="0"/>
            <a:ext cx="11929730" cy="7694414"/>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4000" b="1" dirty="0">
                <a:highlight>
                  <a:srgbClr val="C0C0C0"/>
                </a:highlight>
                <a:latin typeface="Times New Roman" panose="02020603050405020304" pitchFamily="18" charset="0"/>
                <a:cs typeface="Times New Roman" panose="02020603050405020304" pitchFamily="18" charset="0"/>
              </a:rPr>
              <a:t>Conclusion &amp; Key Findings</a:t>
            </a:r>
            <a:endParaRPr lang="en-US" sz="20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 Education Spending</a:t>
            </a:r>
          </a:p>
          <a:p>
            <a:r>
              <a:rPr lang="en-US" sz="2200" dirty="0">
                <a:latin typeface="Times New Roman" panose="02020603050405020304" pitchFamily="18" charset="0"/>
                <a:cs typeface="Times New Roman" panose="02020603050405020304" pitchFamily="18" charset="0"/>
              </a:rPr>
              <a:t>The weighted 90th percentile was Rs 18,700, which is 5.34 times the weighted median of Rs 3,500, showing an uneven distribution of education spending.</a:t>
            </a:r>
          </a:p>
          <a:p>
            <a:r>
              <a:rPr lang="en-US" sz="2400" b="1" dirty="0">
                <a:latin typeface="Times New Roman" panose="02020603050405020304" pitchFamily="18" charset="0"/>
                <a:cs typeface="Times New Roman" panose="02020603050405020304" pitchFamily="18" charset="0"/>
              </a:rPr>
              <a:t>2. Gender Gap in Literacy</a:t>
            </a:r>
          </a:p>
          <a:p>
            <a:r>
              <a:rPr lang="en-US" sz="2200" dirty="0">
                <a:latin typeface="Times New Roman" panose="02020603050405020304" pitchFamily="18" charset="0"/>
                <a:cs typeface="Times New Roman" panose="02020603050405020304" pitchFamily="18" charset="0"/>
              </a:rPr>
              <a:t>Men had higher literacy rates than women in every age group. The largest gap was 47.9 percentage points among people aged 40–44.</a:t>
            </a:r>
          </a:p>
          <a:p>
            <a:r>
              <a:rPr lang="en-US" sz="2400" b="1" dirty="0">
                <a:latin typeface="Times New Roman" panose="02020603050405020304" pitchFamily="18" charset="0"/>
                <a:cs typeface="Times New Roman" panose="02020603050405020304" pitchFamily="18" charset="0"/>
              </a:rPr>
              <a:t>3. Cross-Language Verification</a:t>
            </a:r>
          </a:p>
          <a:p>
            <a:r>
              <a:rPr lang="en-US" sz="2200" dirty="0">
                <a:latin typeface="Times New Roman" panose="02020603050405020304" pitchFamily="18" charset="0"/>
                <a:cs typeface="Times New Roman" panose="02020603050405020304" pitchFamily="18" charset="0"/>
              </a:rPr>
              <a:t>The Python results matched the R results to one decimal place. The literacy rate for women aged 15–19 was 33.3% in both languages.</a:t>
            </a:r>
          </a:p>
          <a:p>
            <a:endParaRPr lang="en-US" sz="2200" dirty="0">
              <a:latin typeface="Times New Roman" panose="02020603050405020304" pitchFamily="18" charset="0"/>
              <a:cs typeface="Times New Roman" panose="02020603050405020304" pitchFamily="18" charset="0"/>
            </a:endParaRPr>
          </a:p>
          <a:p>
            <a:r>
              <a:rPr lang="en-US" sz="2800" b="1" dirty="0">
                <a:highlight>
                  <a:srgbClr val="C0C0C0"/>
                </a:highlight>
                <a:latin typeface="Times New Roman" panose="02020603050405020304" pitchFamily="18" charset="0"/>
                <a:cs typeface="Times New Roman" panose="02020603050405020304" pitchFamily="18" charset="0"/>
              </a:rPr>
              <a:t>Final Takeaway</a:t>
            </a:r>
          </a:p>
          <a:p>
            <a:r>
              <a:rPr lang="en-US" sz="2200" dirty="0">
                <a:latin typeface="Times New Roman" panose="02020603050405020304" pitchFamily="18" charset="0"/>
                <a:cs typeface="Times New Roman" panose="02020603050405020304" pitchFamily="18" charset="0"/>
              </a:rPr>
              <a:t>Data visualization makes important patterns and inequalities easier to identify, compare, and communicate. However, these findings describe the selected rural Balochistan sample and do not explain the causes of the observed differences.</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Thanks</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0104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116</TotalTime>
  <Words>368</Words>
  <Application>Microsoft Office PowerPoint</Application>
  <PresentationFormat>Widescreen</PresentationFormat>
  <Paragraphs>28</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FA24-BED-094(SALMAN)</dc:creator>
  <cp:lastModifiedBy>FA24-BED-094(SALMAN)</cp:lastModifiedBy>
  <cp:revision>2</cp:revision>
  <dcterms:created xsi:type="dcterms:W3CDTF">2026-10-25T10:16:32Z</dcterms:created>
  <dcterms:modified xsi:type="dcterms:W3CDTF">2026-10-25T12:14:42Z</dcterms:modified>
</cp:coreProperties>
</file>